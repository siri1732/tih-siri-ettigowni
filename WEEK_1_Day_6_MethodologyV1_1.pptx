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TIGOWNI SIRI-[BL.EN.U4EAC23067]" userId="8416fd94-65a7-4951-aafb-aa0f25800cdd" providerId="ADAL" clId="{52E27795-4C07-4A73-8273-36E767802DCA}"/>
    <pc:docChg chg="modSld">
      <pc:chgData name="ETTIGOWNI SIRI-[BL.EN.U4EAC23067]" userId="8416fd94-65a7-4951-aafb-aa0f25800cdd" providerId="ADAL" clId="{52E27795-4C07-4A73-8273-36E767802DCA}" dt="2026-09-10T17:06:50.541" v="1" actId="1076"/>
      <pc:docMkLst>
        <pc:docMk/>
      </pc:docMkLst>
      <pc:sldChg chg="modSp mod">
        <pc:chgData name="ETTIGOWNI SIRI-[BL.EN.U4EAC23067]" userId="8416fd94-65a7-4951-aafb-aa0f25800cdd" providerId="ADAL" clId="{52E27795-4C07-4A73-8273-36E767802DCA}" dt="2026-09-10T17:06:50.541" v="1" actId="1076"/>
        <pc:sldMkLst>
          <pc:docMk/>
          <pc:sldMk cId="0" sldId="256"/>
        </pc:sldMkLst>
        <pc:spChg chg="mod">
          <ac:chgData name="ETTIGOWNI SIRI-[BL.EN.U4EAC23067]" userId="8416fd94-65a7-4951-aafb-aa0f25800cdd" providerId="ADAL" clId="{52E27795-4C07-4A73-8273-36E767802DCA}" dt="2026-09-10T17:06:50.541" v="1" actId="1076"/>
          <ac:spMkLst>
            <pc:docMk/>
            <pc:sldMk cId="0" sldId="256"/>
            <ac:spMk id="12" creationId="{1D627D07-B093-0DA0-8722-63308F2380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87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Mentor Review 2 — record actual decisions here immediately after the review: confirmed split strategy, BER-vs-correctness priority, M3 scope decision, ablation-study scope. Update the standalone Methodology V1 document and the Day 5 experiment plan with whatever changes before starting Day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1_DAY 6 </a:t>
            </a:r>
            <a:endParaRPr lang="en-US" sz="115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V1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627D07-B093-0DA0-8722-63308F238027}"/>
              </a:ext>
            </a:extLst>
          </p:cNvPr>
          <p:cNvSpPr/>
          <p:nvPr/>
        </p:nvSpPr>
        <p:spPr>
          <a:xfrm>
            <a:off x="457200" y="1121540"/>
            <a:ext cx="11247120" cy="5350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 Video Message Decoding: Methodology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systematic pipeline for extracting and decoding optical camera communication (OCC) messages from recorded videos and to evaluate its performance under different recording conditions.</a:t>
            </a:r>
          </a:p>
          <a:p>
            <a:pPr lvl="1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Objectives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existing OCC decoding techniques from the literature.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characteristics and limitations of the available dataset.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the relevant optical signal from the video.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signal to reduce noise and variations.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 symbol timing and synchronize the received signal.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 the transmitted message using progressively advanced approaches.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the approaches using common evaluation metrics.</a:t>
            </a:r>
          </a:p>
          <a:p>
            <a:pPr lvl="2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Strategy</a:t>
            </a:r>
          </a:p>
          <a:p>
            <a:pPr lvl="2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→ Dataset Readiness → Signal Processing → Decoding → Reconstruction → Evaluation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 _ DAY6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Recap &amp; Candidate Methods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CCC30-0A79-FE99-1B57-48C96B1A87DC}"/>
              </a:ext>
            </a:extLst>
          </p:cNvPr>
          <p:cNvSpPr txBox="1"/>
          <p:nvPr/>
        </p:nvSpPr>
        <p:spPr>
          <a:xfrm>
            <a:off x="4042611" y="3080084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9031128-9CE0-791D-7DE1-83A2BE11CDA2}"/>
              </a:ext>
            </a:extLst>
          </p:cNvPr>
          <p:cNvSpPr/>
          <p:nvPr/>
        </p:nvSpPr>
        <p:spPr>
          <a:xfrm>
            <a:off x="457200" y="1097280"/>
            <a:ext cx="11247120" cy="5350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did the literature tell us?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reviewed papers indicate that OCC video decoding is affected by several factors: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illumination and pixel intensity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exposure and distance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Frame-rate and clock mismatch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in the captured signal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errors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sufficient training data </a:t>
            </a:r>
          </a:p>
          <a:p>
            <a:pPr lvl="1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identified from literature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 provides a simple baseline. </a:t>
            </a: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thresholding can handle changes in signal intensity and illumination.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frame rate may not exactly match the transmitter symbol rate. </a:t>
            </a: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timing recovery is therefore important.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 and smoothing can improve the quality of the extracted intensity signal. </a:t>
            </a: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signal features may provide additional information in noisy conditions.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ML-based decoding can classify symbols when sufficient labelled data is available. </a:t>
            </a:r>
          </a:p>
          <a:p>
            <a:pPr lvl="2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usefulness depends strongly on dataset size and annotation quality. </a:t>
            </a:r>
          </a:p>
          <a:p>
            <a:pPr lvl="1"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5EB645-96D7-1A87-CD1C-2C19D081088D}"/>
              </a:ext>
            </a:extLst>
          </p:cNvPr>
          <p:cNvSpPr/>
          <p:nvPr/>
        </p:nvSpPr>
        <p:spPr>
          <a:xfrm>
            <a:off x="8640147" y="1971558"/>
            <a:ext cx="2855167" cy="36016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M0: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Fixed / Adaptive Threshold 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Adaptive Threshold + Smoothing + Synchronization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Multi-Feature Refinement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ML-Assisted Classification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1_DAY 6 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Readiness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BFC6D1-62A7-2177-A5BC-E49D9BBE6C6F}"/>
              </a:ext>
            </a:extLst>
          </p:cNvPr>
          <p:cNvSpPr/>
          <p:nvPr/>
        </p:nvSpPr>
        <p:spPr>
          <a:xfrm>
            <a:off x="457200" y="1097280"/>
            <a:ext cx="11247120" cy="5350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IN" sz="15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dataset readiness is important</a:t>
            </a:r>
          </a:p>
          <a:p>
            <a:pPr lvl="1"/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implementing the decoding pipeline, the dataset must be checked for: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quality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ground truth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Recording conditions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or corrupted data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data leakage </a:t>
            </a:r>
          </a:p>
          <a:p>
            <a:pPr lvl="1"/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Organization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OCC videos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metadata / manifest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</a:t>
            </a:r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Extracted frames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Pixel-intensity signals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Labels</a:t>
            </a:r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Ground-truth bit sequences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text where available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Splits</a:t>
            </a:r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set </a:t>
            </a:r>
          </a:p>
          <a:p>
            <a:pPr lvl="2" algn="ctr"/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76D8F1-1DB8-BE4B-4458-48510644F446}"/>
              </a:ext>
            </a:extLst>
          </p:cNvPr>
          <p:cNvSpPr/>
          <p:nvPr/>
        </p:nvSpPr>
        <p:spPr>
          <a:xfrm>
            <a:off x="7203233" y="1511559"/>
            <a:ext cx="4133461" cy="465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Quality Checks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Integrity</a:t>
            </a:r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 every video can be opened.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that videos contain valid frames.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corrupted or incomplete recordings.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Annotation Quality</a:t>
            </a:r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that ground-truth labels correspond to the correct video.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Manually inspect a small sample of annotations before using them.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 Distribution</a:t>
            </a:r>
            <a:endParaRPr lang="en-IN" sz="15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available lighting conditions.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camera-to-source distance.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motion-related variations.</a:t>
            </a:r>
          </a:p>
          <a:p>
            <a:pPr algn="ctr"/>
            <a:endParaRPr lang="en-IN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1_DAY 6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Preprocessing &amp; Modeling Plan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84048"/>
          </a:xfrm>
          <a:prstGeom prst="rect">
            <a:avLst/>
          </a:prstGeom>
          <a:solidFill>
            <a:srgbClr val="F2F6FA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0352" y="141732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 &amp; audit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2606040" cy="384048"/>
          </a:xfrm>
          <a:prstGeom prst="rect">
            <a:avLst/>
          </a:prstGeom>
          <a:solidFill>
            <a:srgbClr val="F2F6FA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0352" y="1947672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detection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" y="233172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2606040" cy="384048"/>
          </a:xfrm>
          <a:prstGeom prst="rect">
            <a:avLst/>
          </a:prstGeom>
          <a:solidFill>
            <a:srgbClr val="F2F6FA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30352" y="247802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Intensity extraction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" y="286207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2606040" cy="384048"/>
          </a:xfrm>
          <a:prstGeom prst="rect">
            <a:avLst/>
          </a:prstGeom>
          <a:solidFill>
            <a:srgbClr val="F2F6FA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30352" y="3008376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339242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2606040" cy="384048"/>
          </a:xfrm>
          <a:prstGeom prst="rect">
            <a:avLst/>
          </a:prstGeom>
          <a:solidFill>
            <a:srgbClr val="F2F6FA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30352" y="3538728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7200" y="392277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2606040" cy="384048"/>
          </a:xfrm>
          <a:prstGeom prst="rect">
            <a:avLst/>
          </a:prstGeom>
          <a:solidFill>
            <a:srgbClr val="FFF2D9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30352" y="406908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 (M0→M3)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7200" y="445312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599432"/>
            <a:ext cx="2606040" cy="384048"/>
          </a:xfrm>
          <a:prstGeom prst="rect">
            <a:avLst/>
          </a:prstGeom>
          <a:solidFill>
            <a:srgbClr val="F2F6FA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30352" y="4599432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57200" y="498348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5129784"/>
            <a:ext cx="2606040" cy="384048"/>
          </a:xfrm>
          <a:prstGeom prst="rect">
            <a:avLst/>
          </a:prstGeom>
          <a:solidFill>
            <a:srgbClr val="E4F5E1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530352" y="5129784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6C7EC91-EAFD-50B4-4D5C-8BAC07112AF9}"/>
              </a:ext>
            </a:extLst>
          </p:cNvPr>
          <p:cNvSpPr/>
          <p:nvPr/>
        </p:nvSpPr>
        <p:spPr>
          <a:xfrm>
            <a:off x="3219061" y="914401"/>
            <a:ext cx="8515739" cy="5812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IN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OCC Video Decoding Pipeline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Video Input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Recorded OCC video is provided as the input.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Video Audit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Check video validity, frame count and available metadata.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ROI Detection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Identify the region containing the optical transmitter/source.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Intensity Extraction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Extract pixel-intensity information from the selected ROI across successive frames.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Signal Preprocessing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Smoothing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Removal of unwanted variations 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Adaptive Thresholding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Convert the processed intensity signal into candidate binary symbols.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Synchronization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Estimate symbol boundaries and compensate for possible frame-rate / symbol-rate mismatch.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Decoding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Apply M0, M1, M2 or M3 depending on the experimental stage.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Message Reconstruction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Convert the decoded symbols/bits into the transmitted message.</a:t>
            </a:r>
          </a:p>
          <a:p>
            <a:pPr lvl="1"/>
            <a:r>
              <a:rPr lang="en-I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Evaluation</a:t>
            </a:r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Compare the reconstructed message with the ground truth.</a:t>
            </a:r>
          </a:p>
          <a:p>
            <a:pPr lvl="1" algn="ctr"/>
            <a:endParaRPr lang="en-I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1_DAY 6 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21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Plan &amp; Split Strategy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7DFBE7-455F-72E6-9A20-F8C335306476}"/>
              </a:ext>
            </a:extLst>
          </p:cNvPr>
          <p:cNvSpPr/>
          <p:nvPr/>
        </p:nvSpPr>
        <p:spPr>
          <a:xfrm>
            <a:off x="569167" y="1063690"/>
            <a:ext cx="11135153" cy="54397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Baseline-to-Advanced Approach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Rather than directly applying a complex method, 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follows a progressive approach.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M0 — Baseline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/ Adaptive Thresholding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a reference performance.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basic </a:t>
            </a:r>
            <a:r>
              <a:rPr lang="en-I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decodability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dataset. 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baseline for comparison.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 — Signal Processing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Threshold + Smoothing +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Explicit Synchronization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intensity variations.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noise.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symbol-timing problems. </a:t>
            </a:r>
          </a:p>
          <a:p>
            <a:pPr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CBAEC7-71B3-2B90-937C-BD5A4B90B3D7}"/>
              </a:ext>
            </a:extLst>
          </p:cNvPr>
          <p:cNvSpPr/>
          <p:nvPr/>
        </p:nvSpPr>
        <p:spPr>
          <a:xfrm>
            <a:off x="6260841" y="1063690"/>
            <a:ext cx="5443479" cy="543974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 — Multi-Feature Refinement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if M1 does not provide sufficient robustness.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information: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Intensity characteristics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transitions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characteristics 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decoding under noisy or difficult conditions. 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 — ML-Assisted Decoding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classifiers: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only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ground-truth labels are available.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is sufficient.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provides measurable improvement over signal-processing methods.</a:t>
            </a:r>
          </a:p>
          <a:p>
            <a:pPr algn="ctr"/>
            <a:endParaRPr lang="en-I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DB43F24C-2D5E-1CA1-6DFC-996F9E379190}"/>
              </a:ext>
            </a:extLst>
          </p:cNvPr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1_DAY 6 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9E2A9C-DCEB-E18B-5580-D2FA064C8D3C}"/>
              </a:ext>
            </a:extLst>
          </p:cNvPr>
          <p:cNvSpPr/>
          <p:nvPr/>
        </p:nvSpPr>
        <p:spPr>
          <a:xfrm>
            <a:off x="457200" y="889195"/>
            <a:ext cx="11247120" cy="57127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Data Split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primary split should be based on: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/ Session Identity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rather than simply splitting individual video files.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videos may be recordings of the same message or session.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related recordings appear in both training and testing: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b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learns characteristics of the message/session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  <a:b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contains highly related recordings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can lead to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leakage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artificially high performance.</a:t>
            </a:r>
          </a:p>
          <a:p>
            <a:pPr lvl="1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Structure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model development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parameter/method selection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Set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only for final performance evaluation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Case</a:t>
            </a:r>
          </a:p>
          <a:p>
            <a:pPr lvl="3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dataset is too small for a reliable fixed split: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Leave-One-Video-Out validation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considered, subject to mentor approval. </a:t>
            </a:r>
          </a:p>
          <a:p>
            <a:pPr lvl="1" algn="ctr"/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BF095C-22B8-896C-01FC-2E34DCCDAF2F}"/>
              </a:ext>
            </a:extLst>
          </p:cNvPr>
          <p:cNvSpPr txBox="1"/>
          <p:nvPr/>
        </p:nvSpPr>
        <p:spPr>
          <a:xfrm>
            <a:off x="487680" y="489085"/>
            <a:ext cx="50666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 &amp; LEAKAGE PREVENTION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C354CE-DA0F-79ED-AB15-3F454F184738}"/>
              </a:ext>
            </a:extLst>
          </p:cNvPr>
          <p:cNvSpPr/>
          <p:nvPr/>
        </p:nvSpPr>
        <p:spPr>
          <a:xfrm>
            <a:off x="500743" y="998376"/>
            <a:ext cx="11190514" cy="54210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Decisions Required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Dataset Split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 message/session-based splitting.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 leave-one-video-out fallback for a small dataset.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Evaluation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 the importance of exact-match accuracy versus BER.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 acceptable BER threshold, if applicable.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ML Scope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Decide whether M3 should remain within the project scope. </a:t>
            </a: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decision depends on label availability. </a:t>
            </a: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Ablation / Sensitivity Study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 which parameters and conditions should be investigated. 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2D249-C012-398F-1AC0-3454B5C6799B}"/>
              </a:ext>
            </a:extLst>
          </p:cNvPr>
          <p:cNvSpPr txBox="1"/>
          <p:nvPr/>
        </p:nvSpPr>
        <p:spPr>
          <a:xfrm>
            <a:off x="500743" y="522514"/>
            <a:ext cx="1642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 STEPS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0EADDA4-F02C-7602-E9C9-077D13C4A7BF}"/>
              </a:ext>
            </a:extLst>
          </p:cNvPr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1_DAY 6 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198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1046</Words>
  <Application>Microsoft Office PowerPoint</Application>
  <PresentationFormat>Widescreen</PresentationFormat>
  <Paragraphs>204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ETTIGOWNI SIRI-[BL.EN.U4EAC23067]</cp:lastModifiedBy>
  <cp:revision>2</cp:revision>
  <dcterms:created xsi:type="dcterms:W3CDTF">2026-09-09T19:30:03Z</dcterms:created>
  <dcterms:modified xsi:type="dcterms:W3CDTF">2026-09-10T17:06:51Z</dcterms:modified>
</cp:coreProperties>
</file>