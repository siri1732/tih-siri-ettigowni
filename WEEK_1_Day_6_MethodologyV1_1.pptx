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6E5796-26C7-43A4-A4C5-5ED9AB99CDFE}" v="1" dt="2026-09-12T17:00:10.6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IGOWNI SIRI-[BL.EN.U4EAC23067]" userId="8416fd94-65a7-4951-aafb-aa0f25800cdd" providerId="ADAL" clId="{52E27795-4C07-4A73-8273-36E767802DCA}"/>
    <pc:docChg chg="addSld modSld sldOrd">
      <pc:chgData name="ETTIGOWNI SIRI-[BL.EN.U4EAC23067]" userId="8416fd94-65a7-4951-aafb-aa0f25800cdd" providerId="ADAL" clId="{52E27795-4C07-4A73-8273-36E767802DCA}" dt="2026-09-12T17:00:23.412" v="7" actId="20577"/>
      <pc:docMkLst>
        <pc:docMk/>
      </pc:docMkLst>
      <pc:sldChg chg="modSp mod">
        <pc:chgData name="ETTIGOWNI SIRI-[BL.EN.U4EAC23067]" userId="8416fd94-65a7-4951-aafb-aa0f25800cdd" providerId="ADAL" clId="{52E27795-4C07-4A73-8273-36E767802DCA}" dt="2026-09-10T17:06:50.541" v="1" actId="1076"/>
        <pc:sldMkLst>
          <pc:docMk/>
          <pc:sldMk cId="0" sldId="256"/>
        </pc:sldMkLst>
        <pc:spChg chg="mod">
          <ac:chgData name="ETTIGOWNI SIRI-[BL.EN.U4EAC23067]" userId="8416fd94-65a7-4951-aafb-aa0f25800cdd" providerId="ADAL" clId="{52E27795-4C07-4A73-8273-36E767802DCA}" dt="2026-09-10T17:06:50.541" v="1" actId="1076"/>
          <ac:spMkLst>
            <pc:docMk/>
            <pc:sldMk cId="0" sldId="256"/>
            <ac:spMk id="12" creationId="{1D627D07-B093-0DA0-8722-63308F238027}"/>
          </ac:spMkLst>
        </pc:spChg>
      </pc:sldChg>
      <pc:sldChg chg="modSp add mod ord">
        <pc:chgData name="ETTIGOWNI SIRI-[BL.EN.U4EAC23067]" userId="8416fd94-65a7-4951-aafb-aa0f25800cdd" providerId="ADAL" clId="{52E27795-4C07-4A73-8273-36E767802DCA}" dt="2026-09-12T17:00:23.412" v="7" actId="20577"/>
        <pc:sldMkLst>
          <pc:docMk/>
          <pc:sldMk cId="2671414166" sldId="263"/>
        </pc:sldMkLst>
        <pc:spChg chg="mod">
          <ac:chgData name="ETTIGOWNI SIRI-[BL.EN.U4EAC23067]" userId="8416fd94-65a7-4951-aafb-aa0f25800cdd" providerId="ADAL" clId="{52E27795-4C07-4A73-8273-36E767802DCA}" dt="2026-09-12T17:00:23.412" v="7" actId="20577"/>
          <ac:spMkLst>
            <pc:docMk/>
            <pc:sldMk cId="2671414166" sldId="263"/>
            <ac:spMk id="3" creationId="{D9A5359F-F2ED-0DD6-0D8E-9CB32793DDA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387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Mentor Review 2 — record actual decisions here immediately after the review: confirmed split strategy, BER-vs-correctness priority, M3 scope decision, ablation-study scope. Update the standalone Methodology V1 document and the Day 5 experiment plan with whatever changes before starting Day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9A5359F-F2ED-0DD6-0D8E-9CB32793DDA1}"/>
              </a:ext>
            </a:extLst>
          </p:cNvPr>
          <p:cNvSpPr/>
          <p:nvPr/>
        </p:nvSpPr>
        <p:spPr>
          <a:xfrm>
            <a:off x="270588" y="317241"/>
            <a:ext cx="11625943" cy="62235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 Day 6</a:t>
            </a:r>
          </a:p>
          <a:p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Mentor Review</a:t>
            </a:r>
          </a:p>
          <a:p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Mentor Name: Vamsikrishna</a:t>
            </a:r>
          </a:p>
          <a:p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 Name: Ettigowni Siri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099F85D-6B33-3EA6-8B1A-EC088D46EC9F}"/>
              </a:ext>
            </a:extLst>
          </p:cNvPr>
          <p:cNvSpPr txBox="1"/>
          <p:nvPr/>
        </p:nvSpPr>
        <p:spPr>
          <a:xfrm>
            <a:off x="457200" y="1147200"/>
            <a:ext cx="8350898" cy="7469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 VIDEO MESSAGE DECODING</a:t>
            </a:r>
          </a:p>
        </p:txBody>
      </p:sp>
    </p:spTree>
    <p:extLst>
      <p:ext uri="{BB962C8B-B14F-4D97-AF65-F5344CB8AC3E}">
        <p14:creationId xmlns:p14="http://schemas.microsoft.com/office/powerpoint/2010/main" val="2671414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 </a:t>
            </a:r>
            <a:endParaRPr lang="en-US" sz="115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V1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D627D07-B093-0DA0-8722-63308F238027}"/>
              </a:ext>
            </a:extLst>
          </p:cNvPr>
          <p:cNvSpPr/>
          <p:nvPr/>
        </p:nvSpPr>
        <p:spPr>
          <a:xfrm>
            <a:off x="457200" y="1121540"/>
            <a:ext cx="11247120" cy="5350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OCC Video Message Decoding: Methodology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systematic pipeline for extracting and decoding optical camera communication (OCC) messages from recorded videos and to evaluate its performance under different recording conditions.</a:t>
            </a:r>
          </a:p>
          <a:p>
            <a:pPr lvl="1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Objectives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Study existing OCC decoding techniques from the literature.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characteristics and limitations of the available dataset.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 the relevant optical signal from the video.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 the signal to reduce noise and variations.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symbol timing and synchronize the received signal.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Decode the transmitted message using progressively advanced approaches.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the approaches using common evaluation metrics.</a:t>
            </a:r>
          </a:p>
          <a:p>
            <a:pPr lvl="2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 Strategy</a:t>
            </a:r>
          </a:p>
          <a:p>
            <a:pPr lvl="2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→ Dataset Readiness → Signal Processing → Decoding → Reconstruction → Evaluation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 _ DAY6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Recap &amp; Candidate Methods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CC30-0A79-FE99-1B57-48C96B1A87DC}"/>
              </a:ext>
            </a:extLst>
          </p:cNvPr>
          <p:cNvSpPr txBox="1"/>
          <p:nvPr/>
        </p:nvSpPr>
        <p:spPr>
          <a:xfrm>
            <a:off x="4042611" y="3080084"/>
            <a:ext cx="0" cy="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9031128-9CE0-791D-7DE1-83A2BE11CDA2}"/>
              </a:ext>
            </a:extLst>
          </p:cNvPr>
          <p:cNvSpPr/>
          <p:nvPr/>
        </p:nvSpPr>
        <p:spPr>
          <a:xfrm>
            <a:off x="457200" y="1097280"/>
            <a:ext cx="11247120" cy="5350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did the literature tell us?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reviewed papers indicate that OCC video decoding is affected by several factors: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Variation in illumination and pixel intensity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Camera exposure and distance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Frame-rate and clock mismatch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Noise in the captured signal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 errors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of sufficient training data </a:t>
            </a:r>
          </a:p>
          <a:p>
            <a:pPr lvl="1"/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Techniques identified from literature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Thresholding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threshold provides a simple baseline. </a:t>
            </a: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Adaptive thresholding can handle changes in signal intensity and illumination.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Camera frame rate may not exactly match the transmitter symbol rate. </a:t>
            </a: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Explicit timing recovery is therefore important.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Signal Processing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Denoising and smoothing can improve the quality of the extracted intensity signal. </a:t>
            </a: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signal features may provide additional information in noisy conditions.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ML-based decoding can classify symbols when sufficient labelled data is available. </a:t>
            </a:r>
          </a:p>
          <a:p>
            <a:pPr lvl="2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Its usefulness depends strongly on dataset size and annotation quality. </a:t>
            </a:r>
          </a:p>
          <a:p>
            <a:pPr lvl="1"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95EB645-96D7-1A87-CD1C-2C19D081088D}"/>
              </a:ext>
            </a:extLst>
          </p:cNvPr>
          <p:cNvSpPr/>
          <p:nvPr/>
        </p:nvSpPr>
        <p:spPr>
          <a:xfrm>
            <a:off x="8640147" y="1971558"/>
            <a:ext cx="2855167" cy="360161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Selected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M0: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Fixed / Adaptive Threshold Baseline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M1: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Adaptive Threshold + Smoothing + Synchronization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M2: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Multi-Feature Refinement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M3: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ML-Assisted Classification</a:t>
            </a:r>
          </a:p>
          <a:p>
            <a:pPr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 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Readiness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BFC6D1-62A7-2177-A5BC-E49D9BBE6C6F}"/>
              </a:ext>
            </a:extLst>
          </p:cNvPr>
          <p:cNvSpPr/>
          <p:nvPr/>
        </p:nvSpPr>
        <p:spPr>
          <a:xfrm>
            <a:off x="457200" y="1097280"/>
            <a:ext cx="11247120" cy="5350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en-IN" sz="15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dataset readiness is important</a:t>
            </a:r>
          </a:p>
          <a:p>
            <a:pPr lvl="1"/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Before implementing the decoding pipeline, the dataset must be checked for: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Video quality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of ground truth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Recording conditions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or corrupted data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Possible data leakage </a:t>
            </a:r>
          </a:p>
          <a:p>
            <a:pPr lvl="1"/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Organization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Data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Original OCC videos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Video metadata / manifest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Processed Data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Extracted frames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Region of Interest (ROI)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Pixel-intensity signals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Labels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Ground-truth bit sequences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Message text where available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Splits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set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 set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set </a:t>
            </a:r>
          </a:p>
          <a:p>
            <a:pPr lvl="2" algn="ctr"/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676D8F1-1DB8-BE4B-4458-48510644F446}"/>
              </a:ext>
            </a:extLst>
          </p:cNvPr>
          <p:cNvSpPr/>
          <p:nvPr/>
        </p:nvSpPr>
        <p:spPr>
          <a:xfrm>
            <a:off x="7203233" y="1511559"/>
            <a:ext cx="4133461" cy="46559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Quality Checks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Video Integrity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 every video can be opened.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 that videos contain valid frames.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Identify corrupted or incomplete recordings.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Annotation Quality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Verify that ground-truth labels correspond to the correct video.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Manually inspect a small sample of annotations before using them.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5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 Distribution</a:t>
            </a:r>
            <a:endParaRPr lang="en-IN" sz="15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Analyse available lighting conditions.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Analyse camera-to-source distance.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Analyse motion-related variations.</a:t>
            </a:r>
          </a:p>
          <a:p>
            <a:pPr algn="ctr"/>
            <a:endParaRPr lang="en-IN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Preprocessing &amp; Modeling Plan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0352" y="1417320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Ingest &amp; audit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1801368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947672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30352" y="194767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 detection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2331720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478024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30352" y="2478024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Intensity extraction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57200" y="2862072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008376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30352" y="3008376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57200" y="3392424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538728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30352" y="3538728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57200" y="392277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2606040" cy="384048"/>
          </a:xfrm>
          <a:prstGeom prst="rect">
            <a:avLst/>
          </a:prstGeom>
          <a:solidFill>
            <a:srgbClr val="FFF2D9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530352" y="4069080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Decode (M0→M3)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57200" y="4453128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599432"/>
            <a:ext cx="2606040" cy="384048"/>
          </a:xfrm>
          <a:prstGeom prst="rect">
            <a:avLst/>
          </a:prstGeom>
          <a:solidFill>
            <a:srgbClr val="F2F6FA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30352" y="4599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Reconstruct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457200" y="4983480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5129784"/>
            <a:ext cx="2606040" cy="384048"/>
          </a:xfrm>
          <a:prstGeom prst="rect">
            <a:avLst/>
          </a:prstGeom>
          <a:solidFill>
            <a:srgbClr val="E4F5E1"/>
          </a:solidFill>
          <a:ln w="9525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530352" y="5129784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6C7EC91-EAFD-50B4-4D5C-8BAC07112AF9}"/>
              </a:ext>
            </a:extLst>
          </p:cNvPr>
          <p:cNvSpPr/>
          <p:nvPr/>
        </p:nvSpPr>
        <p:spPr>
          <a:xfrm>
            <a:off x="3219061" y="914401"/>
            <a:ext cx="8515739" cy="58129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en-IN" sz="1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OCC Video Decoding Pipeline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Video Input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Recorded OCC video is provided as the input.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Video Audit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Check video validity, frame count and available metadata.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ROI Detection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Identify the region containing the optical transmitter/source.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Intensity Extraction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Extract pixel-intensity information from the selected ROI across successive frames.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Signal Preprocessing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Denoising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Smoothing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Removal of unwanted variations 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Adaptive Thresholding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Convert the processed intensity signal into candidate binary symbols.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Synchronization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Estimate symbol boundaries and compensate for possible frame-rate / symbol-rate mismatch.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8. Decoding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Apply M0, M1, M2 or M3 depending on the experimental stage.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9. Message Reconstruction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Convert the decoded symbols/bits into the transmitted message.</a:t>
            </a: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10. Evaluation</a:t>
            </a: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Compare the reconstructed message with the ground truth.</a:t>
            </a:r>
          </a:p>
          <a:p>
            <a:pPr lvl="1" algn="ctr"/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 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21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Plan &amp; Split Strategy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7DFBE7-455F-72E6-9A20-F8C335306476}"/>
              </a:ext>
            </a:extLst>
          </p:cNvPr>
          <p:cNvSpPr/>
          <p:nvPr/>
        </p:nvSpPr>
        <p:spPr>
          <a:xfrm>
            <a:off x="569167" y="1063690"/>
            <a:ext cx="11135153" cy="543974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Baseline-to-Advanced Approach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Rather than directly applying a complex method, 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methodology follows a progressive approach.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M0 — Baseline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/ Adaptive Thresholding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 a reference performance.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basic </a:t>
            </a:r>
            <a:r>
              <a:rPr lang="en-IN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decodability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the dataset.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 a baseline for comparison.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M1 — Signal Processing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Adaptive Threshold + Smoothing +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Explicit Synchronization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 intensity variations.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Reduce noise.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symbol-timing problems. </a:t>
            </a:r>
          </a:p>
          <a:p>
            <a:pPr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8CBAEC7-71B3-2B90-937C-BD5A4B90B3D7}"/>
              </a:ext>
            </a:extLst>
          </p:cNvPr>
          <p:cNvSpPr/>
          <p:nvPr/>
        </p:nvSpPr>
        <p:spPr>
          <a:xfrm>
            <a:off x="6260841" y="1063690"/>
            <a:ext cx="5443479" cy="543974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M2 — Multi-Feature Refinement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if M1 does not provide sufficient robustness.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Possible information: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Intensity characteristics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Signal transitions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Temporal characteristics 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decoding under noisy or difficult conditions.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M3 — ML-Assisted Decoding</a:t>
            </a: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Candidate classifiers: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SVM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only when: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Reliable ground-truth labels are available.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size is sufficient.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 provides measurable improvement over signal-processing methods.</a:t>
            </a:r>
          </a:p>
          <a:p>
            <a:pPr algn="ctr"/>
            <a:endParaRPr lang="en-IN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DB43F24C-2D5E-1CA1-6DFC-996F9E379190}"/>
              </a:ext>
            </a:extLst>
          </p:cNvPr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 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9E2A9C-DCEB-E18B-5580-D2FA064C8D3C}"/>
              </a:ext>
            </a:extLst>
          </p:cNvPr>
          <p:cNvSpPr/>
          <p:nvPr/>
        </p:nvSpPr>
        <p:spPr>
          <a:xfrm>
            <a:off x="457200" y="889195"/>
            <a:ext cx="11247120" cy="57127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Data Split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primary split should be based on: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Message / Session Identity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rather than simply splitting individual video files.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Why?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videos may be recordings of the same message or session.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related recordings appear in both training and testing: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</a:t>
            </a:r>
            <a:b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learns characteristics of the message/session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Data</a:t>
            </a:r>
            <a:b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contains highly related recordings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can lead to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leakage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artificially high performance.</a:t>
            </a:r>
          </a:p>
          <a:p>
            <a:pPr lvl="1"/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Structure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Set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for model development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 Set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for parameter/method selection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Set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only for final performance evaluation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 Dataset Case</a:t>
            </a:r>
          </a:p>
          <a:p>
            <a:pPr lvl="3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the dataset is too small for a reliable fixed split: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Leave-One-Video-Out validation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be considered, subject to mentor approval. </a:t>
            </a:r>
          </a:p>
          <a:p>
            <a:pPr lvl="1"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BF095C-22B8-896C-01FC-2E34DCCDAF2F}"/>
              </a:ext>
            </a:extLst>
          </p:cNvPr>
          <p:cNvSpPr txBox="1"/>
          <p:nvPr/>
        </p:nvSpPr>
        <p:spPr>
          <a:xfrm>
            <a:off x="487680" y="489085"/>
            <a:ext cx="5066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 &amp; LEAKAGE PREVENTION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1C354CE-DA0F-79ED-AB15-3F454F184738}"/>
              </a:ext>
            </a:extLst>
          </p:cNvPr>
          <p:cNvSpPr/>
          <p:nvPr/>
        </p:nvSpPr>
        <p:spPr>
          <a:xfrm>
            <a:off x="500743" y="998376"/>
            <a:ext cx="11190514" cy="54210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Decisions Required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Dataset Split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Approve message/session-based splitting.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 leave-one-video-out fallback for a small dataset. 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Evaluation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 the importance of exact-match accuracy versus BER.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 acceptable BER threshold, if applicable. 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ML Scope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Decide whether M3 should remain within the project scope. </a:t>
            </a: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 decision depends on label availability. </a:t>
            </a:r>
          </a:p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Ablation / Sensitivity Study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 which parameters and conditions should be investigated. </a:t>
            </a:r>
          </a:p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12D249-C012-398F-1AC0-3454B5C6799B}"/>
              </a:ext>
            </a:extLst>
          </p:cNvPr>
          <p:cNvSpPr txBox="1"/>
          <p:nvPr/>
        </p:nvSpPr>
        <p:spPr>
          <a:xfrm>
            <a:off x="500743" y="522514"/>
            <a:ext cx="1642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NEXT STEPS</a:t>
            </a: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C0EADDA4-F02C-7602-E9C9-077D13C4A7BF}"/>
              </a:ext>
            </a:extLst>
          </p:cNvPr>
          <p:cNvSpPr txBox="1"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 1_DAY 6 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198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1066</Words>
  <Application>Microsoft Office PowerPoint</Application>
  <PresentationFormat>Widescreen</PresentationFormat>
  <Paragraphs>213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ETTIGOWNI SIRI-[BL.EN.U4EAC23067]</cp:lastModifiedBy>
  <cp:revision>2</cp:revision>
  <dcterms:created xsi:type="dcterms:W3CDTF">2026-09-09T19:30:03Z</dcterms:created>
  <dcterms:modified xsi:type="dcterms:W3CDTF">2026-09-12T17:00:27Z</dcterms:modified>
</cp:coreProperties>
</file>