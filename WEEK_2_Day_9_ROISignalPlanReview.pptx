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94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73148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0">
            <a:extLst>
              <a:ext uri="{FF2B5EF4-FFF2-40B4-BE49-F238E27FC236}">
                <a16:creationId xmlns:a16="http://schemas.microsoft.com/office/drawing/2014/main" id="{6BB70659-1145-6A9E-AAA1-EA34452F0F05}"/>
              </a:ext>
            </a:extLst>
          </p:cNvPr>
          <p:cNvSpPr txBox="1"/>
          <p:nvPr/>
        </p:nvSpPr>
        <p:spPr>
          <a:xfrm>
            <a:off x="214604" y="137160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E7C9C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DAY 9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EE0564D-AC39-C2A0-34E3-3FAF990464F2}"/>
              </a:ext>
            </a:extLst>
          </p:cNvPr>
          <p:cNvSpPr/>
          <p:nvPr/>
        </p:nvSpPr>
        <p:spPr>
          <a:xfrm>
            <a:off x="391885" y="867748"/>
            <a:ext cx="11439331" cy="31350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endParaRPr lang="en-IN" sz="16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ROI Selection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ROI is selected using </a:t>
            </a: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area-filtered connected-component detection</a:t>
            </a: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rather than simply choosing the brightest pixel.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Candidate bright regions are filtered based on their area to eliminate non-transmitter artifacts.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detected number of candidate regions is cross-checked with the expected LED count: </a:t>
            </a: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1, 2, 3, or 4 LEDs</a:t>
            </a: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Day 7–8 measurements show very low ROI movement for the tested videos.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Therefore, a </a:t>
            </a: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fixed ROI is selected for each video</a:t>
            </a: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avoiding unnecessary frame-by-frame re-detection.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Dead-time regions at the beginning and end of the video are removed before ROI-based signal processing.</a:t>
            </a:r>
          </a:p>
          <a:p>
            <a:pPr lvl="1"/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Signal Extraction Strategy</a:t>
            </a:r>
          </a:p>
          <a:p>
            <a:pPr lvl="1"/>
            <a:endParaRPr lang="en-IN" sz="15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Fixed ROI → Extract ROI pixels from each frame → Calculate representative intensity → Generate temporal intensity signal</a:t>
            </a:r>
          </a:p>
          <a:p>
            <a:pPr lvl="1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resulting intensity-vs-frame signal will be used for preprocessing, synchronization and message decoding.</a:t>
            </a:r>
          </a:p>
          <a:p>
            <a:pPr lvl="1" algn="ctr"/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0546D1-670D-6916-029E-5AD19B586700}"/>
              </a:ext>
            </a:extLst>
          </p:cNvPr>
          <p:cNvSpPr txBox="1"/>
          <p:nvPr/>
        </p:nvSpPr>
        <p:spPr>
          <a:xfrm>
            <a:off x="214604" y="354705"/>
            <a:ext cx="85095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Candidate ROI and Signal-Extraction Strategy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5BA3AF8-1D30-DD53-5EBA-84A94D9F0B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8738076"/>
              </p:ext>
            </p:extLst>
          </p:nvPr>
        </p:nvGraphicFramePr>
        <p:xfrm>
          <a:off x="4665304" y="4318047"/>
          <a:ext cx="7165912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91478">
                  <a:extLst>
                    <a:ext uri="{9D8B030D-6E8A-4147-A177-3AD203B41FA5}">
                      <a16:colId xmlns:a16="http://schemas.microsoft.com/office/drawing/2014/main" val="2515509818"/>
                    </a:ext>
                  </a:extLst>
                </a:gridCol>
                <a:gridCol w="1791478">
                  <a:extLst>
                    <a:ext uri="{9D8B030D-6E8A-4147-A177-3AD203B41FA5}">
                      <a16:colId xmlns:a16="http://schemas.microsoft.com/office/drawing/2014/main" val="4249556062"/>
                    </a:ext>
                  </a:extLst>
                </a:gridCol>
                <a:gridCol w="1791478">
                  <a:extLst>
                    <a:ext uri="{9D8B030D-6E8A-4147-A177-3AD203B41FA5}">
                      <a16:colId xmlns:a16="http://schemas.microsoft.com/office/drawing/2014/main" val="4262400731"/>
                    </a:ext>
                  </a:extLst>
                </a:gridCol>
                <a:gridCol w="1791478">
                  <a:extLst>
                    <a:ext uri="{9D8B030D-6E8A-4147-A177-3AD203B41FA5}">
                      <a16:colId xmlns:a16="http://schemas.microsoft.com/office/drawing/2014/main" val="32124974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Video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6665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 LED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(287,110)–(407,229)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 × 119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0.31 px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4650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LEDs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(311,15)–(499,114)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 × 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0.33 px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6451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LEDs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(403,33)–(607,99)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204 × 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2.08 </a:t>
                      </a:r>
                      <a:r>
                        <a:rPr lang="en-IN" sz="1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px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1464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LEDs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(272,78)–(474,244)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 × 166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4.01 </a:t>
                      </a:r>
                      <a:r>
                        <a:rPr lang="en-IN" sz="1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px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6476646"/>
                  </a:ext>
                </a:extLst>
              </a:tr>
            </a:tbl>
          </a:graphicData>
        </a:graphic>
      </p:graphicFrame>
      <p:pic>
        <p:nvPicPr>
          <p:cNvPr id="19" name="Image 0" descr="/home/claude/day9/analysis/roi_composite.png">
            <a:extLst>
              <a:ext uri="{FF2B5EF4-FFF2-40B4-BE49-F238E27FC236}">
                <a16:creationId xmlns:a16="http://schemas.microsoft.com/office/drawing/2014/main" id="{35CCE621-A84C-9B23-D7E4-164E25B52F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368" b="15789"/>
          <a:stretch>
            <a:fillRect/>
          </a:stretch>
        </p:blipFill>
        <p:spPr>
          <a:xfrm>
            <a:off x="214604" y="4621825"/>
            <a:ext cx="4450700" cy="11612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2BAD44-56A4-3B55-2126-067369C8AD70}"/>
              </a:ext>
            </a:extLst>
          </p:cNvPr>
          <p:cNvSpPr txBox="1"/>
          <p:nvPr/>
        </p:nvSpPr>
        <p:spPr>
          <a:xfrm>
            <a:off x="355341" y="696816"/>
            <a:ext cx="11709141" cy="60324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Synchronization Approach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Camera frame rate =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260 fps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Transmission rate =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92 bps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0"/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Therefore: </a:t>
            </a:r>
          </a:p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260 / 92 = 2.826 frames per bit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Since the ratio is non-integer, fixed-frame slicing can gradually shift the assumed symbol boundaries.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can cause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timing drift and incorrect bit decoding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over the message.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Therefore, symbol boundaries will be recovered from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actual ROI-intensity transitions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rather than assuming a fixed 2.826-frame/bit relationship.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approach follows the synchronization issue identified in the reviewed OCC literature. </a:t>
            </a:r>
          </a:p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Freeze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preprocessing sequence will be:</a:t>
            </a:r>
          </a:p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Dead-time trimming → ROI intensity extraction → Denoising / smoothing → Normalization → Transition detection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Dead-time lead/trail regions are removed first.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 fluctuations are reduced through smoothing/denoising.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Signal normalization reduces variations between recordings.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Transitions in the processed signal are then used for synchronization. </a:t>
            </a:r>
          </a:p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Decoded-message correctness: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whether the complete message is correctly recovered.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BER: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calculated when ground-truth bit labels are available.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Synchronization robustness: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ability to maintain correct symbol boundaries.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Execution time: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processing time required per video. </a:t>
            </a:r>
          </a:p>
          <a:p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BEE01442-7104-E9D3-76ED-BA7A5C6FF256}"/>
              </a:ext>
            </a:extLst>
          </p:cNvPr>
          <p:cNvSpPr txBox="1"/>
          <p:nvPr/>
        </p:nvSpPr>
        <p:spPr>
          <a:xfrm>
            <a:off x="355341" y="148014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E39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Synchronization, Evaluation &amp; Preprocessing Freeze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7855880-A3B9-D980-4F39-B33D21AE73BF}"/>
              </a:ext>
            </a:extLst>
          </p:cNvPr>
          <p:cNvSpPr/>
          <p:nvPr/>
        </p:nvSpPr>
        <p:spPr>
          <a:xfrm>
            <a:off x="261256" y="457200"/>
            <a:ext cx="6129383" cy="616753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ROI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Fixed ROI per video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Area-filtered connected-component detection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Candidate count checked against expected LED count </a:t>
            </a: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Dead-time trimming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Intensity extraction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Denoising / smoothing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Normalization </a:t>
            </a: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Synchronization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Transition-based symbol synchronization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fixed-frame slicing based only on the nominal 2.826 frames/bit ratio </a:t>
            </a: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Evaluation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Exact decoded-message correctness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BER where ground truth is available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Synchronization robustness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Execution time </a:t>
            </a: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Current Open Issues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Ground Truth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ground-truth labels file was supplied during Day 7.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BER evaluation therefore requires confirmation of whether another ground-truth source exists. 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6EE4444-7A17-08DB-FF89-370BC1D965BA}"/>
              </a:ext>
            </a:extLst>
          </p:cNvPr>
          <p:cNvSpPr/>
          <p:nvPr/>
        </p:nvSpPr>
        <p:spPr>
          <a:xfrm>
            <a:off x="6736079" y="457200"/>
            <a:ext cx="5194663" cy="616753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Size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Currently, there is </a:t>
            </a: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 video per LED-count condition</a:t>
            </a: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lvl="0"/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is sufficient for initial pipeline testing, but not enough to make a reliable accuracy-vs-LED-count trend claim. </a:t>
            </a: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Approval Required</a:t>
            </a: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Approve the fixed, area-filtered ROI strategy.</a:t>
            </a: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</a:t>
            </a: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Approve transition-based symbol synchronization.</a:t>
            </a: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</a:t>
            </a: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Confirm whether BER evaluation is required or exact-match evaluation can be used when labels are unavailable.</a:t>
            </a: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</a:t>
            </a: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Confirm whether the current number of videos is sufficient or additional recordings should be requested.</a:t>
            </a: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</a:t>
            </a: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Approve freezing the above preprocessing and evaluation strategy for the next stage.</a:t>
            </a:r>
          </a:p>
          <a:p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These are the same key decisions your existing Slide 3 is asking the mentor to confirm, but with the technical reasoning made explicit.</a:t>
            </a:r>
          </a:p>
          <a:p>
            <a:pPr algn="ctr"/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1188FE-DA28-83A7-58F1-0BF3E84288A5}"/>
              </a:ext>
            </a:extLst>
          </p:cNvPr>
          <p:cNvSpPr txBox="1"/>
          <p:nvPr/>
        </p:nvSpPr>
        <p:spPr>
          <a:xfrm>
            <a:off x="373225" y="9330"/>
            <a:ext cx="37709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Methodology to Freeze</a:t>
            </a:r>
          </a:p>
          <a:p>
            <a:endParaRPr lang="en-IN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606</Words>
  <Application>Microsoft Office PowerPoint</Application>
  <PresentationFormat>Widescreen</PresentationFormat>
  <Paragraphs>94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ETTIGOWNI SIRI-[BL.EN.U4EAC23067]</cp:lastModifiedBy>
  <cp:revision>2</cp:revision>
  <dcterms:created xsi:type="dcterms:W3CDTF">2026-09-10T09:45:19Z</dcterms:created>
  <dcterms:modified xsi:type="dcterms:W3CDTF">2026-09-10T18:22:02Z</dcterms:modified>
</cp:coreProperties>
</file>